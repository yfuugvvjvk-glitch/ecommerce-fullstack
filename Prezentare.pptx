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A902-DD57-4F53-AFE3-B53973E5AF3F}" type="datetimeFigureOut">
              <a:rPr lang="ro-RO" smtClean="0"/>
              <a:t>21.02.2026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B0-D50B-42D8-811C-FB326E5432E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3142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A902-DD57-4F53-AFE3-B53973E5AF3F}" type="datetimeFigureOut">
              <a:rPr lang="ro-RO" smtClean="0"/>
              <a:t>21.02.2026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B0-D50B-42D8-811C-FB326E5432E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03907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A902-DD57-4F53-AFE3-B53973E5AF3F}" type="datetimeFigureOut">
              <a:rPr lang="ro-RO" smtClean="0"/>
              <a:t>21.02.2026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B0-D50B-42D8-811C-FB326E5432E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41072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A902-DD57-4F53-AFE3-B53973E5AF3F}" type="datetimeFigureOut">
              <a:rPr lang="ro-RO" smtClean="0"/>
              <a:t>21.02.2026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B0-D50B-42D8-811C-FB326E5432E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06550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A902-DD57-4F53-AFE3-B53973E5AF3F}" type="datetimeFigureOut">
              <a:rPr lang="ro-RO" smtClean="0"/>
              <a:t>21.02.2026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B0-D50B-42D8-811C-FB326E5432E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54587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A902-DD57-4F53-AFE3-B53973E5AF3F}" type="datetimeFigureOut">
              <a:rPr lang="ro-RO" smtClean="0"/>
              <a:t>21.02.2026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B0-D50B-42D8-811C-FB326E5432E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38645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A902-DD57-4F53-AFE3-B53973E5AF3F}" type="datetimeFigureOut">
              <a:rPr lang="ro-RO" smtClean="0"/>
              <a:t>21.02.2026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B0-D50B-42D8-811C-FB326E5432E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76647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A902-DD57-4F53-AFE3-B53973E5AF3F}" type="datetimeFigureOut">
              <a:rPr lang="ro-RO" smtClean="0"/>
              <a:t>21.02.2026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B0-D50B-42D8-811C-FB326E5432E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2764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A902-DD57-4F53-AFE3-B53973E5AF3F}" type="datetimeFigureOut">
              <a:rPr lang="ro-RO" smtClean="0"/>
              <a:t>21.02.2026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B0-D50B-42D8-811C-FB326E5432E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46021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A902-DD57-4F53-AFE3-B53973E5AF3F}" type="datetimeFigureOut">
              <a:rPr lang="ro-RO" smtClean="0"/>
              <a:t>21.02.2026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B0-D50B-42D8-811C-FB326E5432E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299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A902-DD57-4F53-AFE3-B53973E5AF3F}" type="datetimeFigureOut">
              <a:rPr lang="ro-RO" smtClean="0"/>
              <a:t>21.02.2026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B0-D50B-42D8-811C-FB326E5432E7}" type="slidenum">
              <a:rPr lang="ro-RO" smtClean="0"/>
              <a:t>‹#›</a:t>
            </a:fld>
            <a:endParaRPr lang="ro-RO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6044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A902-DD57-4F53-AFE3-B53973E5AF3F}" type="datetimeFigureOut">
              <a:rPr lang="ro-RO" smtClean="0"/>
              <a:t>21.02.2026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B0-D50B-42D8-811C-FB326E5432E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22922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A902-DD57-4F53-AFE3-B53973E5AF3F}" type="datetimeFigureOut">
              <a:rPr lang="ro-RO" smtClean="0"/>
              <a:t>21.02.2026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B0-D50B-42D8-811C-FB326E5432E7}" type="slidenum">
              <a:rPr lang="ro-RO" smtClean="0"/>
              <a:t>‹#›</a:t>
            </a:fld>
            <a:endParaRPr lang="ro-R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2356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A902-DD57-4F53-AFE3-B53973E5AF3F}" type="datetimeFigureOut">
              <a:rPr lang="ro-RO" smtClean="0"/>
              <a:t>21.02.2026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B0-D50B-42D8-811C-FB326E5432E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14559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A902-DD57-4F53-AFE3-B53973E5AF3F}" type="datetimeFigureOut">
              <a:rPr lang="ro-RO" smtClean="0"/>
              <a:t>21.02.2026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B0-D50B-42D8-811C-FB326E5432E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22720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A902-DD57-4F53-AFE3-B53973E5AF3F}" type="datetimeFigureOut">
              <a:rPr lang="ro-RO" smtClean="0"/>
              <a:t>21.02.2026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47B0-D50B-42D8-811C-FB326E5432E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87147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5A902-DD57-4F53-AFE3-B53973E5AF3F}" type="datetimeFigureOut">
              <a:rPr lang="ro-RO" smtClean="0"/>
              <a:t>21.02.2026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FE947B0-D50B-42D8-811C-FB326E5432E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02944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342"/>
            <a:ext cx="1895740" cy="170521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5433" y="49342"/>
            <a:ext cx="114059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ro-RO" sz="2400" b="1" dirty="0" smtClean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UNIVERSITATEA INTERNAȚIONALĂ DANUBIUS</a:t>
            </a:r>
            <a:r>
              <a:rPr lang="en-US" sz="2400" b="1" dirty="0" smtClean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o-RO" sz="2400" b="1" dirty="0" smtClean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FACULTATEA DE INFORMATICĂ</a:t>
            </a:r>
            <a:endParaRPr lang="ro-RO" sz="2400" b="1" dirty="0"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2448108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DEZVOLTAREA UNEI APLICAȚII E-COMMERCE</a:t>
            </a:r>
          </a:p>
          <a:p>
            <a:pPr algn="ctr"/>
            <a:r>
              <a:rPr lang="ro-RO" sz="28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FOLOSIND TEHNOLOGII WEB MODERNE</a:t>
            </a:r>
            <a:endParaRPr lang="ro-RO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73820" y="5192263"/>
            <a:ext cx="459475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 smtClean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Absolvent: Petrescu Cristian</a:t>
            </a:r>
          </a:p>
          <a:p>
            <a:r>
              <a:rPr lang="ro-RO" sz="2400" b="1" dirty="0" smtClean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Coordonator: </a:t>
            </a:r>
            <a:r>
              <a:rPr lang="ro-RO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Conf. univ. dr. BUCEA-MANEA-ŢONIŞ RADU.</a:t>
            </a:r>
          </a:p>
          <a:p>
            <a:r>
              <a:rPr lang="ro-RO" sz="24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Galați, 2027</a:t>
            </a:r>
            <a:endParaRPr lang="ro-RO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70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66530" y="1967195"/>
            <a:ext cx="1185511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8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INTRODUCERE ȘI OBIECTIVE</a:t>
            </a:r>
          </a:p>
          <a:p>
            <a:r>
              <a:rPr lang="ro-RO" sz="28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ANALIZA CERINȚELOR ȘI ARHITECTURA</a:t>
            </a:r>
          </a:p>
          <a:p>
            <a:r>
              <a:rPr lang="ro-RO" sz="28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DESIGNUL INTERFEȚEI RESPONSIVE</a:t>
            </a:r>
          </a:p>
          <a:p>
            <a:r>
              <a:rPr lang="ro-RO" sz="28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IMPLEMENTAREA ȘI SECURIZAREA APLICAȚIEI</a:t>
            </a:r>
          </a:p>
          <a:p>
            <a:r>
              <a:rPr lang="ro-RO" sz="28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TESTARE, REZULTATE ȘI CONCLUZII</a:t>
            </a:r>
          </a:p>
          <a:p>
            <a:r>
              <a:rPr lang="ro-RO" sz="28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REZULTATELE ȘI TESTAREA</a:t>
            </a:r>
          </a:p>
          <a:p>
            <a:r>
              <a:rPr lang="ro-RO" sz="28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DEMONSTRAȚIE LIVE</a:t>
            </a:r>
          </a:p>
          <a:p>
            <a:r>
              <a:rPr lang="ro-RO" sz="28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 CONCLUZII ȘI DEZVOLTĂRI VIITOARE</a:t>
            </a:r>
            <a:endParaRPr lang="ro-RO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92587"/>
            <a:ext cx="119805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32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CUPRINSUL PREZENTĂRII</a:t>
            </a:r>
            <a:endParaRPr lang="ro-RO" sz="32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8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3137" y="0"/>
            <a:ext cx="5063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CONTEXTUL ȘI MOTIVAȚIA</a:t>
            </a:r>
            <a:endParaRPr lang="ro-RO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250" y="4029164"/>
            <a:ext cx="6096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MOTIVAȚIA PERSONALĂ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Aplicarea cunoștințelor teoretice în practică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Demonstrarea competențelor full-stack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Crearea unei aplicații reale și utilizabile</a:t>
            </a:r>
            <a:endParaRPr lang="ro-RO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08426" y="0"/>
            <a:ext cx="26949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OBIECTIVELE</a:t>
            </a:r>
            <a:endParaRPr lang="ro-RO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1" y="1166842"/>
            <a:ext cx="6096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OBIECTIVE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GENERALE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Dezvoltarea unei aplicații e-commerce complete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Utilizarea tehnologiilor moderne full-stack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Implementarea best practices de securitate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Crearea unei experiențe utilizator </a:t>
            </a:r>
            <a:r>
              <a:rPr lang="ro-RO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excelente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197341" y="3475166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OBIECTIVE TEHNICE ATINSE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 19, Next.js 16, Tailwind CSS 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Fastify 5.6.2, Prisma 6.19.0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PostgreSQL cu optimizări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 Vercel + Render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 Jest + Cypress (87% coverage)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671" y="116684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E-commerce-ul - creștere de 25% în ultimii 2 ani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Necesitatea aplicațiilor web moderne și scalabile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Importanța experienței utilizatorului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Securitatea și performanța - priorități esențiale</a:t>
            </a:r>
          </a:p>
        </p:txBody>
      </p:sp>
    </p:spTree>
    <p:extLst>
      <p:ext uri="{BB962C8B-B14F-4D97-AF65-F5344CB8AC3E}">
        <p14:creationId xmlns:p14="http://schemas.microsoft.com/office/powerpoint/2010/main" val="2797487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67823" y="1231170"/>
            <a:ext cx="426949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                   </a:t>
            </a:r>
            <a:endParaRPr lang="en-US" sz="2400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React.js 19.2.0               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Tailwind CSS4</a:t>
            </a:r>
            <a:endParaRPr lang="en-US" sz="2400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•TypeScript                                </a:t>
            </a:r>
            <a:b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o-RO" sz="2400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596215" y="0"/>
            <a:ext cx="46111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TEHNOLOGII UTILIZATE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165865" y="453328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 &amp; TOOLS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Docker                  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ro-RO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Vercel                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Jest                    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ro-RO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Cypress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8427" y="988574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BACKEND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Fastify 5.6.2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Prisma ORM 6.19.0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PostgreSQL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JWT Authentication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bcrypt Security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o-RO" sz="2400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Getting Started with React, TypeScript, and Tailwind CSS: Setting Up Your  Development Environment with Vite | by Kaleab Dereje | Mediu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238" y="1596619"/>
            <a:ext cx="2737673" cy="1540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- sabinadams/fastify-prisma: A plugin for Fastify to easily register  Prisma Client in your Fastify instanc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125" y="177518"/>
            <a:ext cx="3470274" cy="115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cke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2924" y="4533288"/>
            <a:ext cx="1971040" cy="1713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hat is GitHub? - Pythia Foundation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123" y="4404894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495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60422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ARHITECTURA APLICAȚIEI</a:t>
            </a:r>
            <a:endParaRPr lang="ro-RO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6463" y="887156"/>
            <a:ext cx="1222408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┌─────────────────┐    HTTP/HTTPS    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┌─────────────────┐</a:t>
            </a:r>
          </a:p>
          <a:p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  FRONTEND    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 │ ←──────────────→ │    BACKEND     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│</a:t>
            </a:r>
          </a:p>
          <a:p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  Next.js     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│             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│    Fastify    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 │</a:t>
            </a:r>
          </a:p>
          <a:p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  React 19      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                 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   Node.js      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└─────────────────┘                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 └─────────────────┘</a:t>
            </a:r>
          </a:p>
          <a:p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                          │</a:t>
            </a:r>
          </a:p>
          <a:p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                          ▼</a:t>
            </a:r>
          </a:p>
          <a:p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                 ┌─────────────────┐</a:t>
            </a:r>
          </a:p>
          <a:p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                 │   DATABASE  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   │</a:t>
            </a:r>
          </a:p>
          <a:p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                 │   PostgreSQL    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                 │   + Prisma ORM  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                 └─────────────────┘</a:t>
            </a:r>
            <a:endParaRPr lang="ro-RO" sz="2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34989" y="439926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Arhitectură în 3 niveluri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Separarea responsabilităților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API REST pentru comunicare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Type safety cu TypeScript</a:t>
            </a:r>
            <a:endParaRPr lang="ro-RO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2696301"/>
            <a:ext cx="2605152" cy="1465398"/>
          </a:xfrm>
          <a:prstGeom prst="rect">
            <a:avLst/>
          </a:prstGeom>
        </p:spPr>
      </p:pic>
      <p:pic>
        <p:nvPicPr>
          <p:cNvPr id="2054" name="Picture 6" descr="PostgreSQL 14 Ships with Improved Performance for Heavy Workload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752" y="4980584"/>
            <a:ext cx="3176405" cy="1588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Node.js Architecture: Guide to Scalability &amp; Performa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9415" y="2722868"/>
            <a:ext cx="272415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81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39739" y="0"/>
            <a:ext cx="61034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FUNCȚIONALITĂȚI UTILIZATORI</a:t>
            </a:r>
            <a:endParaRPr lang="ro-RO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6629" y="722668"/>
            <a:ext cx="611321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Autentificare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completă (JWT)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Catalog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produse (26 produse, 18 categorii)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Căutare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și filtrare avansată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Coș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cu cantități fixe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Checkout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 (2 metode plată: Card Bancar, Numerar la Livrare</a:t>
            </a:r>
            <a:r>
              <a:rPr lang="ro-RO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307761" y="2717882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 voucher-uri cu validare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Review-uri și rating produse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Lista favorite persistentă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 editabil + upload avatar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 facturi complet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Locații de livrare multiple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Notificări în timp real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responsive complet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Selector monedă în header cu 15+ monede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Conversie automată prețuri în timp real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924" y="3030992"/>
            <a:ext cx="3056364" cy="38270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3840" y="261610"/>
            <a:ext cx="1788160" cy="254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1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19128" y="74041"/>
            <a:ext cx="101070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FUNCȚIONALITĂȚI ADMIN</a:t>
            </a:r>
            <a:endParaRPr lang="ro-RO" sz="2800" dirty="0"/>
          </a:p>
        </p:txBody>
      </p:sp>
      <p:sp>
        <p:nvSpPr>
          <p:cNvPr id="2" name="Rectangle 1"/>
          <p:cNvSpPr/>
          <p:nvPr/>
        </p:nvSpPr>
        <p:spPr>
          <a:xfrm>
            <a:off x="911290" y="1015205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Panou admin: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• Editor live pagini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• Gestionare produse (fix/per unitate)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• Sistem conversie valutară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• Gestionare comenzi cu stoc automat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• Rapoarte financiare</a:t>
            </a:r>
          </a:p>
          <a:p>
            <a:r>
              <a:rPr lang="ro-RO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Actualizări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timp real</a:t>
            </a:r>
          </a:p>
          <a:p>
            <a:r>
              <a:rPr lang="ro-RO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(mobile/tablet/desktop</a:t>
            </a:r>
            <a:endParaRPr lang="ro-RO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13" y="4286135"/>
            <a:ext cx="11989188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443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36039" y="0"/>
            <a:ext cx="46902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MĂSURI DE SECURITATE</a:t>
            </a:r>
            <a:endParaRPr lang="ro-RO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5168" y="1037999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28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AUTENTIFICARE &amp; AUTORIZARE</a:t>
            </a:r>
          </a:p>
          <a:p>
            <a:r>
              <a:rPr lang="ro-RO" sz="28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JWT tokens cu expirare (7 zile)</a:t>
            </a:r>
          </a:p>
          <a:p>
            <a:r>
              <a:rPr lang="ro-RO" sz="28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Parole hash-uite cu bcrypt (12 rounds)</a:t>
            </a:r>
          </a:p>
          <a:p>
            <a:r>
              <a:rPr lang="ro-RO" sz="28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access control</a:t>
            </a:r>
          </a:p>
          <a:p>
            <a:r>
              <a:rPr lang="ro-RO" sz="28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Rate limiting pentru login</a:t>
            </a:r>
            <a:endParaRPr lang="ro-RO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29137" y="1037999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2400" b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PROTECȚIE ATACURI</a:t>
            </a:r>
          </a:p>
          <a:p>
            <a:r>
              <a:rPr lang="ro-RO" sz="2400" b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XSS Protection (CSP)</a:t>
            </a:r>
          </a:p>
          <a:p>
            <a:r>
              <a:rPr lang="ro-RO" sz="2400" b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CSRF Protection</a:t>
            </a:r>
          </a:p>
          <a:p>
            <a:r>
              <a:rPr lang="ro-RO" sz="2400" b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SQL Injection (Prisma ORM)</a:t>
            </a:r>
          </a:p>
          <a:p>
            <a:r>
              <a:rPr lang="ro-RO" sz="2400" b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Input validation și sanitization</a:t>
            </a:r>
            <a:endParaRPr lang="ro-RO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0" y="413840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CONFORMITATE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OWASP Top 10 compliant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WCAG 2.1 AA (96% conformitate)</a:t>
            </a:r>
            <a:endParaRPr lang="ro-RO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90" y="3341578"/>
            <a:ext cx="1996164" cy="35164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1" y="3109993"/>
            <a:ext cx="2799740" cy="357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56004" y="0"/>
            <a:ext cx="30171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PERFORMANȚA</a:t>
            </a:r>
            <a:endParaRPr lang="ro-RO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85192" y="1305342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REZULTATE PERFORMANȚĂ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LIGHTHOUSE SCORES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Performance: 94/100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Accessibility: 96/100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Best Practices: 92/100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SEO: 89/100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WEB VITALS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LCP: 1.2s | FID: 45ms | CLS: 0.08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PERFORMANCE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Timp mediu răspuns: 180ms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P95 response time: 420ms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Uptime: 99.9%</a:t>
            </a:r>
            <a:endParaRPr lang="ro-RO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51183" y="0"/>
            <a:ext cx="20928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TESTAREA</a:t>
            </a:r>
            <a:endParaRPr lang="ro-RO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01852" y="1305342"/>
            <a:ext cx="6096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STRATEGIA DE TESTARE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TIPURI DE TESTE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Unit Tests (Jest) - 87% coverage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Tests - API endpoints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E2E Tests (Cypress) - User journeys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Load Testing (k6) - 200 utilizatori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REZULTATE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156 teste unitare - toate trec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45 teste integrare - toate trec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12 teste E2E - toate trec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Load test: 0.02% erori la 200 users</a:t>
            </a:r>
            <a:endParaRPr lang="ro-RO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630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57229" y="0"/>
            <a:ext cx="41024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DEMONSTRAȚIE LIVE</a:t>
            </a:r>
            <a:endParaRPr lang="ro-RO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57229" y="722623"/>
            <a:ext cx="78657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DEMONSTRAȚIE APLICAȚIE</a:t>
            </a:r>
            <a:b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APLICAȚIA LOCALĂ COMPLET FUNCȚIONALĂ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http://localhost:3000</a:t>
            </a:r>
            <a:endParaRPr lang="ro-RO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49520" y="4763978"/>
            <a:ext cx="745093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CREDENȚIALE DEMO</a:t>
            </a:r>
            <a:endParaRPr lang="en-US" sz="2000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izitator 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Guest)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guest@example.com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Parolă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guest123</a:t>
            </a:r>
            <a:endParaRPr lang="ro-RO" sz="200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Admin: admin@site.ro / admin123 (Cristi)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1: ion.popescu@example.com / </a:t>
            </a:r>
            <a:endParaRPr lang="en-US" sz="2000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Voucher</a:t>
            </a:r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BUN VENIT (10% reducere)</a:t>
            </a:r>
            <a:endParaRPr lang="ro-RO" sz="2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8616" y="2572479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 REALE DIN APLICAȚIE</a:t>
            </a:r>
          </a:p>
          <a:p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18 categorii active (Branză, Lapte, Ouă, Carne, Animale vii, etc.)</a:t>
            </a:r>
          </a:p>
          <a:p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26 produse în catalog (Caș de capră, Lapte de vacă, Ouă, Carne, etc.)</a:t>
            </a:r>
          </a:p>
          <a:p>
            <a:r>
              <a:rPr lang="ro-RO" sz="20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Metode plată: Card Bancar, Numerar la Livrare</a:t>
            </a:r>
            <a:endParaRPr lang="ro-RO" sz="2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461" y="2976991"/>
            <a:ext cx="5654351" cy="171424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193" y="1071534"/>
            <a:ext cx="2114845" cy="4763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75" y="4691238"/>
            <a:ext cx="4739145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29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0725" y="196334"/>
            <a:ext cx="44078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PROVOCĂRI ȘI SOLUȚII</a:t>
            </a:r>
            <a:endParaRPr lang="ro-RO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4482" y="1243407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GESTIONAREA STĂRII COMPLEXE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Problema: Sincronizarea între componente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Soluția: Context API + custom hooks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PERFORMANȚA CU VOLUME MARI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Problema: Încărcarea lentă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Soluția: Paginare + lazy loading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SECURITATEA APLICAȚIEI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Problema: Protecția împotriva atacurilor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Soluția: Middleware + validare strictă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 SCALABIL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 Problema: Configurarea producție</a:t>
            </a:r>
          </a:p>
          <a:p>
            <a:r>
              <a:rPr lang="ro-RO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Soluția: Docker + cloud platforms</a:t>
            </a:r>
            <a:endParaRPr lang="ro-RO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90482" y="196334"/>
            <a:ext cx="49444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PLANURI DE DEZVOLTARE</a:t>
            </a:r>
            <a:endParaRPr lang="ro-RO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90482" y="1305342"/>
            <a:ext cx="6096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FUNCȚIONALITĂȚI PLANIFICATE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Integrare plăți reale (Stripe/PayPal)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 recomandări AI avansat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Aplicație mobilă React Native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și rapoarte avansate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Suport multilingv extins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ÎMBUNĂTĂȚIRI TEHNICE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GraphQL API alternativ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PWA features complete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 cloud scalabil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Securitate avansată (2FA)</a:t>
            </a:r>
            <a:endParaRPr lang="ro-RO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126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67370" y="116123"/>
            <a:ext cx="63325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GESTIONARE PRODUSE AVANSATĂ</a:t>
            </a:r>
            <a:endParaRPr lang="ro-RO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9370" y="639343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 DUAL DE PREȚURI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Preț FIX per produs/ambalaj: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- Ex: "Lapte 2L" = 1 leu/sticlă (NU per litru)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- Afișare: "1.00 lei/buc" + "2 litri/produs"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- Stoc: număr ambalaje (3 sticle = 6L total)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- Client alege număr produse, nu cantitate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o-RO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023696" y="4353742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 AUTOMAT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Rezervare la plasare comandă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Actualizare la livrare/anulare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Alerte pentru stoc scăzut</a:t>
            </a:r>
            <a:endParaRPr lang="ro-RO" sz="2400" dirty="0"/>
          </a:p>
        </p:txBody>
      </p:sp>
      <p:sp>
        <p:nvSpPr>
          <p:cNvPr id="3" name="Rectangle 2"/>
          <p:cNvSpPr/>
          <p:nvPr/>
        </p:nvSpPr>
        <p:spPr>
          <a:xfrm>
            <a:off x="6433653" y="1296215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Preț per UNITATE de măsură: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- Ex: "Lapte" = 5 lei/litru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- Afișare: "5.00 lei/litru"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- Client alege cantitatea (0.5L, 1L, 2L)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- Preț calculat automat (2L × 5 = 10 lei)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70" y="3984171"/>
            <a:ext cx="4006148" cy="27234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750" y="3235207"/>
            <a:ext cx="5623249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23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58298" y="0"/>
            <a:ext cx="82965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 COMPLET DE CONVERSIE VALUTARĂ</a:t>
            </a:r>
          </a:p>
        </p:txBody>
      </p:sp>
      <p:sp>
        <p:nvSpPr>
          <p:cNvPr id="6" name="Rectangle 5"/>
          <p:cNvSpPr/>
          <p:nvPr/>
        </p:nvSpPr>
        <p:spPr>
          <a:xfrm>
            <a:off x="87085" y="1864125"/>
            <a:ext cx="600891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SUPORT MULTIPLE MONEDE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15+ monede disponibile: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RON, EUR, USD, GBP, CHF, JPY, CAD, AUD,</a:t>
            </a:r>
            <a:r>
              <a:rPr lang="en-US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CNY, SEK, NOK, DKK, PLN, CZK, HUF</a:t>
            </a:r>
          </a:p>
        </p:txBody>
      </p:sp>
      <p:sp>
        <p:nvSpPr>
          <p:cNvPr id="2" name="Rectangle 1"/>
          <p:cNvSpPr/>
          <p:nvPr/>
        </p:nvSpPr>
        <p:spPr>
          <a:xfrm>
            <a:off x="6262558" y="186412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Actualizare instant la schimbare</a:t>
            </a:r>
            <a:b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ACTUALIZARE AUTOMATĂ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Integrare cu API BNR (cursuri oficiale RON)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90865" y="3317033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SUPORT MULTIPLE LIMBI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6 limbi disponibile: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🇷🇴 Română (ro) - limba implicită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🇬🇧 Engleză (en)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🇫🇷 Franceză (fr)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🇩🇪 Germană (de)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🇪🇸 Spaniolă (es)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🇮🇹 Italiană (it</a:t>
            </a:r>
            <a:r>
              <a:rPr lang="ro-RO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o-RO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6815" y="3428999"/>
            <a:ext cx="2460521" cy="33043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561" y="3895419"/>
            <a:ext cx="1844921" cy="27334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8863"/>
            <a:ext cx="12192000" cy="134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42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37810" y="-263007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ro-RO" sz="2800" b="1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sz="28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CONCLUZII FINALE</a:t>
            </a:r>
            <a:endParaRPr lang="ro-RO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2519" y="889844"/>
            <a:ext cx="1128071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OBIECTIVE ATINSE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Aplicație e-commerce completă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Tehnologii moderne implementate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Securitate și performanță optimizate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Documentație completă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Testare comprehensivă</a:t>
            </a:r>
          </a:p>
          <a:p>
            <a: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o-RO" sz="2400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53674" y="95630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LECȚII ÎNVĂȚATE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Importanța planificării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Valoarea testării automate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Necesitatea optimizării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Beneficiile tehnologiilor moderne</a:t>
            </a:r>
          </a:p>
        </p:txBody>
      </p:sp>
      <p:sp>
        <p:nvSpPr>
          <p:cNvPr id="2" name="Rectangle 1"/>
          <p:cNvSpPr/>
          <p:nvPr/>
        </p:nvSpPr>
        <p:spPr>
          <a:xfrm>
            <a:off x="2764874" y="4135576"/>
            <a:ext cx="6096001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CONTRIBUȚII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Cod 100% original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Arhitectură scalabilă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Best practices industrie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Soluție viabilă pentru producție</a:t>
            </a:r>
          </a:p>
        </p:txBody>
      </p:sp>
      <p:pic>
        <p:nvPicPr>
          <p:cNvPr id="3074" name="Picture 2" descr="Securitate cibernetică gratuită sau contra cost? Care e cea mai bună  variantă: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79" y="3237130"/>
            <a:ext cx="2395855" cy="179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ât de importantă este planificarea într-un business și ce elemente trebuie  să iei în calcul? - Curierul Nationa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414" y="3331084"/>
            <a:ext cx="4422775" cy="2528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838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7016"/>
            <a:ext cx="12297747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o-RO" sz="2800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BIBLIOGRAFIE</a:t>
            </a:r>
            <a:endParaRPr lang="ro-RO" sz="2400" b="1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o-RO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o-RO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Fowler, Martin - "Patterns of Enterprise Application Architecture", Addison-Wesley, 2002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o-RO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.Next.js </a:t>
            </a:r>
            <a:r>
              <a:rPr lang="ro-RO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Documentation - https://nextjs.org/docs - Ghid complet Next.js 16.0.1, Vercel Inc., 2024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ro-RO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.Fastify </a:t>
            </a:r>
            <a:r>
              <a:rPr lang="ro-RO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Documentation- https://fastify.dev/ - Documentația Fastify 5.6.2, Fastify Team, 2024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ro-RO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.Prisma </a:t>
            </a:r>
            <a:r>
              <a:rPr lang="ro-RO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Documentation- https://www.prisma.io/docs - Ghid Prisma ORM 6.19.0, Prisma Data Inc., 2024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ro-RO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.PostgreSQL </a:t>
            </a:r>
            <a:r>
              <a:rPr lang="ro-RO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Documentation- https://www.postgresql.org/docs/ - Documentație PostgreSQL 16, PostgreSQL Global Development Group, 2024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ro-RO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.Tailwind </a:t>
            </a:r>
            <a:r>
              <a:rPr lang="ro-RO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CSS Documentation - https://tailwindcss.com/docs - Ghid Tailwind CSS 4, Tailwind Labs Inc., 2024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ro-RO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.TypeScript </a:t>
            </a:r>
            <a:r>
              <a:rPr lang="ro-RO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Handbook - https://www.typescriptlang.org/docs/ - Documentație TypeScript 5.3, Microsoft Corporation, </a:t>
            </a:r>
            <a:r>
              <a:rPr lang="ro-RO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2024</a:t>
            </a:r>
            <a:endParaRPr lang="ro-RO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41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427</TotalTime>
  <Words>639</Words>
  <Application>Microsoft Office PowerPoint</Application>
  <PresentationFormat>Widescreen</PresentationFormat>
  <Paragraphs>229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Tahoma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cristi</dc:creator>
  <cp:lastModifiedBy>cristi</cp:lastModifiedBy>
  <cp:revision>28</cp:revision>
  <dcterms:created xsi:type="dcterms:W3CDTF">2026-02-18T11:08:32Z</dcterms:created>
  <dcterms:modified xsi:type="dcterms:W3CDTF">2026-02-21T10:07:20Z</dcterms:modified>
</cp:coreProperties>
</file>